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645920"/>
            <a:ext cx="4572000" cy="4572000"/>
          </a:xfrm>
          <a:prstGeom prst="ellipse">
            <a:avLst/>
          </a:prstGeom>
          <a:solidFill>
            <a:srgbClr val="0D6B8C">
              <a:alpha val="28000"/>
            </a:srgbClr>
          </a:solidFill>
          <a:ln w="12700">
            <a:solidFill>
              <a:srgbClr val="0D6B8C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548640"/>
            <a:ext cx="2743200" cy="2743200"/>
          </a:xfrm>
          <a:prstGeom prst="ellipse">
            <a:avLst/>
          </a:prstGeom>
          <a:solidFill>
            <a:srgbClr val="00C4D4">
              <a:alpha val="22000"/>
            </a:srgbClr>
          </a:solidFill>
          <a:ln w="12700">
            <a:solidFill>
              <a:srgbClr val="00C4D4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3474720"/>
            <a:ext cx="3657600" cy="3657600"/>
          </a:xfrm>
          <a:prstGeom prst="ellipse">
            <a:avLst/>
          </a:prstGeom>
          <a:solidFill>
            <a:srgbClr val="0D6B8C">
              <a:alpha val="20000"/>
            </a:srgbClr>
          </a:solidFill>
          <a:ln w="12700">
            <a:solidFill>
              <a:srgbClr val="0D6B8C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D6B8C"/>
          </a:solidFill>
          <a:ln w="12700">
            <a:solidFill>
              <a:srgbClr val="0D6B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572000"/>
            <a:ext cx="3200400" cy="571500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280160"/>
            <a:ext cx="64008" cy="2377440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005840"/>
            <a:ext cx="68580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DormHub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960120" y="2194560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C4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Dormitory Management System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2834640"/>
            <a:ext cx="6858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AF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Problem Presentation  •  AY 2025–2026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0120" y="3520440"/>
            <a:ext cx="851306" cy="329184"/>
          </a:xfrm>
          <a:prstGeom prst="roundRect">
            <a:avLst>
              <a:gd name="adj" fmla="val 16667"/>
            </a:avLst>
          </a:prstGeom>
          <a:solidFill>
            <a:srgbClr val="12304F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520440"/>
            <a:ext cx="85130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4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 17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39442" y="3520440"/>
            <a:ext cx="1021385" cy="329184"/>
          </a:xfrm>
          <a:prstGeom prst="roundRect">
            <a:avLst>
              <a:gd name="adj" fmla="val 16667"/>
            </a:avLst>
          </a:prstGeom>
          <a:solidFill>
            <a:srgbClr val="12304F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39442" y="3520440"/>
            <a:ext cx="1021385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4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Swing GUI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88843" y="3520440"/>
            <a:ext cx="681228" cy="329184"/>
          </a:xfrm>
          <a:prstGeom prst="roundRect">
            <a:avLst>
              <a:gd name="adj" fmla="val 16667"/>
            </a:avLst>
          </a:prstGeom>
          <a:solidFill>
            <a:srgbClr val="12304F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88843" y="3520440"/>
            <a:ext cx="6812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4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98087" y="3520440"/>
            <a:ext cx="596189" cy="329184"/>
          </a:xfrm>
          <a:prstGeom prst="roundRect">
            <a:avLst>
              <a:gd name="adj" fmla="val 16667"/>
            </a:avLst>
          </a:prstGeom>
          <a:solidFill>
            <a:srgbClr val="12304F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98087" y="3520440"/>
            <a:ext cx="596189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4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JDBC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22292" y="3520440"/>
            <a:ext cx="1191463" cy="329184"/>
          </a:xfrm>
          <a:prstGeom prst="roundRect">
            <a:avLst>
              <a:gd name="adj" fmla="val 16667"/>
            </a:avLst>
          </a:prstGeom>
          <a:solidFill>
            <a:srgbClr val="12304F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2292" y="3520440"/>
            <a:ext cx="1191463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4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DAO Pattern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1771" y="3520440"/>
            <a:ext cx="1616659" cy="329184"/>
          </a:xfrm>
          <a:prstGeom prst="roundRect">
            <a:avLst>
              <a:gd name="adj" fmla="val 16667"/>
            </a:avLst>
          </a:prstGeom>
          <a:solidFill>
            <a:srgbClr val="12304F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1771" y="3520440"/>
            <a:ext cx="1616659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4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MVC 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949440" y="0"/>
            <a:ext cx="20574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C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DormHub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DormHub is a desktop-based Java Swing application for dormitory administration. It manages residents, rooms, assignments, payments, and dorm passes through a layered MVC architecture backed by a MySQL database.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1673352" cy="1664208"/>
          </a:xfrm>
          <a:prstGeom prst="rect">
            <a:avLst/>
          </a:prstGeom>
          <a:solidFill>
            <a:srgbClr val="EBF5FB"/>
          </a:solidFill>
          <a:ln w="19050">
            <a:solidFill>
              <a:srgbClr val="BC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08760"/>
            <a:ext cx="1673352" cy="64008"/>
          </a:xfrm>
          <a:prstGeom prst="rect">
            <a:avLst/>
          </a:prstGeom>
          <a:solidFill>
            <a:srgbClr val="0D6B8C"/>
          </a:solidFill>
          <a:ln w="12700">
            <a:solidFill>
              <a:srgbClr val="0D6B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618488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93192" y="2039112"/>
            <a:ext cx="152704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Resident Management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192" y="2404872"/>
            <a:ext cx="1527048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Register, edit, and remove dormitory residents with full profile info — ID, program, year level, contact, move-in date.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71116" y="1508760"/>
            <a:ext cx="1673352" cy="1664208"/>
          </a:xfrm>
          <a:prstGeom prst="rect">
            <a:avLst/>
          </a:prstGeom>
          <a:solidFill>
            <a:srgbClr val="EBF5FB"/>
          </a:solidFill>
          <a:ln w="19050">
            <a:solidFill>
              <a:srgbClr val="BC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71116" y="1508760"/>
            <a:ext cx="1673352" cy="64008"/>
          </a:xfrm>
          <a:prstGeom prst="rect">
            <a:avLst/>
          </a:prstGeom>
          <a:solidFill>
            <a:srgbClr val="0D6B8C"/>
          </a:solidFill>
          <a:ln w="12700">
            <a:solidFill>
              <a:srgbClr val="0D6B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4268" y="1618488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144268" y="2039112"/>
            <a:ext cx="152704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Room Management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44268" y="2404872"/>
            <a:ext cx="1527048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Define rooms by type (Male/Female), set capacity, and track current occupancy with a CHECK constraint.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22192" y="1508760"/>
            <a:ext cx="1673352" cy="1664208"/>
          </a:xfrm>
          <a:prstGeom prst="rect">
            <a:avLst/>
          </a:prstGeom>
          <a:solidFill>
            <a:srgbClr val="EBF5FB"/>
          </a:solidFill>
          <a:ln w="19050">
            <a:solidFill>
              <a:srgbClr val="BC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22192" y="1508760"/>
            <a:ext cx="1673352" cy="64008"/>
          </a:xfrm>
          <a:prstGeom prst="rect">
            <a:avLst/>
          </a:prstGeom>
          <a:solidFill>
            <a:srgbClr val="0D6B8C"/>
          </a:solidFill>
          <a:ln w="12700">
            <a:solidFill>
              <a:srgbClr val="0D6B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95344" y="1618488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895344" y="2039112"/>
            <a:ext cx="152704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Room Assignment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95344" y="2404872"/>
            <a:ext cx="1527048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Assign residents to rooms, record assignment and vacated dates, and handle reassignments.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73268" y="1508760"/>
            <a:ext cx="1673352" cy="1664208"/>
          </a:xfrm>
          <a:prstGeom prst="rect">
            <a:avLst/>
          </a:prstGeom>
          <a:solidFill>
            <a:srgbClr val="EBF5FB"/>
          </a:solidFill>
          <a:ln w="19050">
            <a:solidFill>
              <a:srgbClr val="BC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73268" y="1508760"/>
            <a:ext cx="1673352" cy="64008"/>
          </a:xfrm>
          <a:prstGeom prst="rect">
            <a:avLst/>
          </a:prstGeom>
          <a:solidFill>
            <a:srgbClr val="0D6B8C"/>
          </a:solidFill>
          <a:ln w="12700">
            <a:solidFill>
              <a:srgbClr val="0D6B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46420" y="1618488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646420" y="2039112"/>
            <a:ext cx="152704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 Tracking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46420" y="2404872"/>
            <a:ext cx="1527048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 monthly dorm fees per resident with Paid/Unpaid status. View full payment history.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24344" y="1508760"/>
            <a:ext cx="1673352" cy="1664208"/>
          </a:xfrm>
          <a:prstGeom prst="rect">
            <a:avLst/>
          </a:prstGeom>
          <a:solidFill>
            <a:srgbClr val="EBF5FB"/>
          </a:solidFill>
          <a:ln w="19050">
            <a:solidFill>
              <a:srgbClr val="BC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24344" y="1508760"/>
            <a:ext cx="1673352" cy="64008"/>
          </a:xfrm>
          <a:prstGeom prst="rect">
            <a:avLst/>
          </a:prstGeom>
          <a:solidFill>
            <a:srgbClr val="0D6B8C"/>
          </a:solidFill>
          <a:ln w="12700">
            <a:solidFill>
              <a:srgbClr val="0D6B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97496" y="1618488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🪪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397496" y="2039112"/>
            <a:ext cx="152704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Dorm Pass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97496" y="2404872"/>
            <a:ext cx="1527048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 day/overnight pass requests with a Pending → Approved/Denied workflow per resident.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949440" y="0"/>
            <a:ext cx="20574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C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com.dormhub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8412480" cy="658368"/>
          </a:xfrm>
          <a:prstGeom prst="rect">
            <a:avLst/>
          </a:prstGeom>
          <a:solidFill>
            <a:srgbClr val="0A4F6A"/>
          </a:solidFill>
          <a:ln w="12700">
            <a:solidFill>
              <a:srgbClr val="0A4F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89611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Layer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2064" y="118872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8DD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com.dormhub.view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926080" y="932815"/>
            <a:ext cx="6721475" cy="475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F0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GUIMain · PanelsHandler · ResidentFormDialog · PaymentFormDialog · DormPassFormDialog · </a:t>
            </a:r>
            <a:endParaRPr lang="en-US" sz="950" dirty="0">
              <a:solidFill>
                <a:srgbClr val="D8F0F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D8F0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RoomFormDialog · AssignmentFormDialog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26280" y="1499616"/>
            <a:ext cx="0" cy="54864"/>
          </a:xfrm>
          <a:prstGeom prst="line">
            <a:avLst/>
          </a:prstGeom>
          <a:noFill/>
          <a:ln w="12700">
            <a:solidFill>
              <a:srgbClr val="5A7A8C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66928" y="1554480"/>
            <a:ext cx="8010144" cy="658368"/>
          </a:xfrm>
          <a:prstGeom prst="rect">
            <a:avLst/>
          </a:prstGeom>
          <a:solidFill>
            <a:srgbClr val="0D6B8C"/>
          </a:solidFill>
          <a:ln w="12700">
            <a:solidFill>
              <a:srgbClr val="0D6B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60934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Controller Layer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1901952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8DD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com.dormhub.controller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127248" y="1645920"/>
            <a:ext cx="544982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F0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GUIController — routes View events to Services · LoginController — handles auth via AuthService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26280" y="2212848"/>
            <a:ext cx="0" cy="54864"/>
          </a:xfrm>
          <a:prstGeom prst="line">
            <a:avLst/>
          </a:prstGeom>
          <a:noFill/>
          <a:ln w="12700">
            <a:solidFill>
              <a:srgbClr val="5A7A8C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68096" y="2267712"/>
            <a:ext cx="7607808" cy="65836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32257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 Layer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2615184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8DD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com.dormhub.service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28416" y="2359152"/>
            <a:ext cx="5047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F0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ResidentService · RoomService · PaymentService · DormPassService · RoomAssignmentService (interfaces + Impl)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26280" y="2926080"/>
            <a:ext cx="0" cy="54864"/>
          </a:xfrm>
          <a:prstGeom prst="line">
            <a:avLst/>
          </a:prstGeom>
          <a:noFill/>
          <a:ln w="12700">
            <a:solidFill>
              <a:srgbClr val="5A7A8C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969264" y="2980944"/>
            <a:ext cx="7205472" cy="658368"/>
          </a:xfrm>
          <a:prstGeom prst="rect">
            <a:avLst/>
          </a:prstGeom>
          <a:solidFill>
            <a:srgbClr val="00AABB"/>
          </a:solidFill>
          <a:ln w="12700">
            <a:solidFill>
              <a:srgbClr val="00AA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5568" y="303580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DAO Layer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15568" y="3328416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8DD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com.dormhub.dao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529584" y="3072384"/>
            <a:ext cx="464515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F0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ResidentDAO · RoomDAO · PaymentDAO · DormPassDAO · RoomAssignmentDAO — each with interface + DAOImpl using JDBC PreparedStatement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26280" y="3639312"/>
            <a:ext cx="0" cy="54864"/>
          </a:xfrm>
          <a:prstGeom prst="line">
            <a:avLst/>
          </a:prstGeom>
          <a:noFill/>
          <a:ln w="12700">
            <a:solidFill>
              <a:srgbClr val="5A7A8C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170432" y="3694176"/>
            <a:ext cx="6803136" cy="658368"/>
          </a:xfrm>
          <a:prstGeom prst="rect">
            <a:avLst/>
          </a:prstGeom>
          <a:solidFill>
            <a:srgbClr val="008C99"/>
          </a:solidFill>
          <a:ln w="12700">
            <a:solidFill>
              <a:srgbClr val="008C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16736" y="37490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+ Database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16736" y="404164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8DD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com.dormhub.model  ·  MySQL dormhub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730752" y="3785616"/>
            <a:ext cx="424281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F0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Resident · Room · Payment · DormPass · RoomAssignment  (POJOs mapped 1-to-1 to DB tables)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7A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Layered MVC — each layer depends only on the layer directly below it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Schema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949440" y="0"/>
            <a:ext cx="20574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C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MySQL — dormhub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682496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2DF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1682496" cy="347472"/>
          </a:xfrm>
          <a:prstGeom prst="rect">
            <a:avLst/>
          </a:prstGeom>
          <a:solidFill>
            <a:srgbClr val="0D6B8C"/>
          </a:solidFill>
          <a:ln w="12700">
            <a:solidFill>
              <a:srgbClr val="0D6B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8686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room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56616" y="1216152"/>
            <a:ext cx="1517904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PK  room_number INT(3)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56616" y="1517904"/>
            <a:ext cx="1517904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room_type VARCHAR(6)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56616" y="1819656"/>
            <a:ext cx="1517904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capacity INT(1)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56616" y="2121408"/>
            <a:ext cx="1517904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current_occupancy INT(1)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6616" y="2423160"/>
            <a:ext cx="1517904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CHECK: occupancy ≤ capacity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048256" y="822960"/>
            <a:ext cx="1682496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2DF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48256" y="822960"/>
            <a:ext cx="1682496" cy="347472"/>
          </a:xfrm>
          <a:prstGeom prst="rect">
            <a:avLst/>
          </a:prstGeom>
          <a:solidFill>
            <a:srgbClr val="0D6B8C"/>
          </a:solidFill>
          <a:ln w="12700">
            <a:solidFill>
              <a:srgbClr val="0D6B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12264" y="8686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resident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30552" y="1216152"/>
            <a:ext cx="1517904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PK  resident_id INT(9)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130552" y="1517904"/>
            <a:ext cx="1517904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last_name VARCHAR(50)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130552" y="1819656"/>
            <a:ext cx="1517904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first_name VARCHAR(50)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30552" y="2121408"/>
            <a:ext cx="1517904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contact_no CHAR(11)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30552" y="2423160"/>
            <a:ext cx="1517904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year_level, program, move_in_date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822192" y="822960"/>
            <a:ext cx="1682496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2DF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22192" y="822960"/>
            <a:ext cx="1682496" cy="347472"/>
          </a:xfrm>
          <a:prstGeom prst="rect">
            <a:avLst/>
          </a:prstGeom>
          <a:solidFill>
            <a:srgbClr val="0D6B8C"/>
          </a:solidFill>
          <a:ln w="12700">
            <a:solidFill>
              <a:srgbClr val="0D6B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86200" y="8686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room_assignments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904488" y="1216152"/>
            <a:ext cx="1517904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PK  assignment_id AUTO_INC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904488" y="1517904"/>
            <a:ext cx="1517904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FK  resident_id → resident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904488" y="1819656"/>
            <a:ext cx="1517904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FK  room_id → room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904488" y="2121408"/>
            <a:ext cx="1517904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date_assigned DATE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904488" y="2423160"/>
            <a:ext cx="1517904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date_vacated DATE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596128" y="822960"/>
            <a:ext cx="1682496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2DF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96128" y="822960"/>
            <a:ext cx="1682496" cy="347472"/>
          </a:xfrm>
          <a:prstGeom prst="rect">
            <a:avLst/>
          </a:prstGeom>
          <a:solidFill>
            <a:srgbClr val="0D6B8C"/>
          </a:solidFill>
          <a:ln w="12700">
            <a:solidFill>
              <a:srgbClr val="0D6B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0136" y="8686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payment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78424" y="1216152"/>
            <a:ext cx="1517904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PK  payment_id AUTO_INC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78424" y="1517904"/>
            <a:ext cx="1517904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FK  resident_id → resident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678424" y="1819656"/>
            <a:ext cx="1517904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amount DECIMAL(10,2)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678424" y="2121408"/>
            <a:ext cx="1517904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payment_date DATE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678424" y="2423160"/>
            <a:ext cx="1517904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status (Paid/Unpaid)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370064" y="822960"/>
            <a:ext cx="1682496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2DF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370064" y="822960"/>
            <a:ext cx="1682496" cy="347472"/>
          </a:xfrm>
          <a:prstGeom prst="rect">
            <a:avLst/>
          </a:prstGeom>
          <a:solidFill>
            <a:srgbClr val="0D6B8C"/>
          </a:solidFill>
          <a:ln w="12700">
            <a:solidFill>
              <a:srgbClr val="0D6B8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34072" y="8686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dorm_pass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452360" y="1216152"/>
            <a:ext cx="1517904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PK  pass_id AUTO_INC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452360" y="1517904"/>
            <a:ext cx="1517904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FK  resident_id → resident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452360" y="1819656"/>
            <a:ext cx="1517904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type, reason, destination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452360" y="2121408"/>
            <a:ext cx="1517904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date_applied DATE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452360" y="2423160"/>
            <a:ext cx="1517904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status (Pending/Approved/Denied)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74320" y="2880360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7A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Relationship: resident (1) ——&lt; room_assignments (M),  resident (1) ——&lt; payment (M),  resident (1) ——&lt; dorm_pass (M),  room (1) ——&lt; room_assignments (M)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329184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E8F4F8"/>
          </a:solidFill>
          <a:ln w="12700">
            <a:solidFill>
              <a:srgbClr val="BCE3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8328" y="3291840"/>
            <a:ext cx="151790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 DELETE CASCADE (all FKs from resident)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011680" y="329184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E8F4F8"/>
          </a:solidFill>
          <a:ln w="12700">
            <a:solidFill>
              <a:srgbClr val="BCE3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75688" y="3291840"/>
            <a:ext cx="151790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 UPDATE CASCADE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749040" y="329184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E8F4F8"/>
          </a:solidFill>
          <a:ln w="12700">
            <a:solidFill>
              <a:srgbClr val="BCE3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13048" y="3291840"/>
            <a:ext cx="151790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room.room_type IN ('Male','Female')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486400" y="329184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E8F4F8"/>
          </a:solidFill>
          <a:ln w="12700">
            <a:solidFill>
              <a:srgbClr val="BCE3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50408" y="3291840"/>
            <a:ext cx="151790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payment.status DEFAULT 'Unpaid'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7223760" y="329184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E8F4F8"/>
          </a:solidFill>
          <a:ln w="12700">
            <a:solidFill>
              <a:srgbClr val="BCE3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87768" y="3291840"/>
            <a:ext cx="151790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dorm_pass.status DEFAULT 'Pending'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Entity Relationship Diagram (ERD)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949440" y="0"/>
            <a:ext cx="20574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C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dormhub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1828800" cy="1417320"/>
          </a:xfrm>
          <a:prstGeom prst="rect">
            <a:avLst/>
          </a:prstGeom>
          <a:solidFill>
            <a:srgbClr val="EEF7FB"/>
          </a:solidFill>
          <a:ln w="25400">
            <a:solidFill>
              <a:srgbClr val="0D6B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68680"/>
            <a:ext cx="1828800" cy="329184"/>
          </a:xfrm>
          <a:prstGeom prst="rect">
            <a:avLst/>
          </a:prstGeom>
          <a:solidFill>
            <a:srgbClr val="0D6B8C"/>
          </a:solidFill>
          <a:ln w="12700">
            <a:solidFill>
              <a:srgbClr val="0D6B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905256"/>
            <a:ext cx="16824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room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PK  room_number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453896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room_type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67335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capacity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189280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current_occupancy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566160" y="868680"/>
            <a:ext cx="2011680" cy="1645920"/>
          </a:xfrm>
          <a:prstGeom prst="rect">
            <a:avLst/>
          </a:prstGeom>
          <a:solidFill>
            <a:srgbClr val="EEF7FB"/>
          </a:solidFill>
          <a:ln w="25400">
            <a:solidFill>
              <a:srgbClr val="0D6B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868680"/>
            <a:ext cx="2011680" cy="329184"/>
          </a:xfrm>
          <a:prstGeom prst="rect">
            <a:avLst/>
          </a:prstGeom>
          <a:solidFill>
            <a:srgbClr val="0D6B8C"/>
          </a:solidFill>
          <a:ln w="12700">
            <a:solidFill>
              <a:srgbClr val="0D6B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9312" y="905256"/>
            <a:ext cx="186537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resident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0" y="123444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PK  resident_id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0" y="145389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last_name, first_name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57600" y="167335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contact_no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57600" y="1892808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year_level, program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57600" y="2112264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move_in_date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58000" y="868680"/>
            <a:ext cx="2011680" cy="1417320"/>
          </a:xfrm>
          <a:prstGeom prst="rect">
            <a:avLst/>
          </a:prstGeom>
          <a:solidFill>
            <a:srgbClr val="EEF7FB"/>
          </a:solidFill>
          <a:ln w="25400">
            <a:solidFill>
              <a:srgbClr val="0D6B8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0" y="868680"/>
            <a:ext cx="2011680" cy="329184"/>
          </a:xfrm>
          <a:prstGeom prst="rect">
            <a:avLst/>
          </a:prstGeom>
          <a:solidFill>
            <a:srgbClr val="0D6B8C"/>
          </a:solidFill>
          <a:ln w="12700">
            <a:solidFill>
              <a:srgbClr val="0D6B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31152" y="905256"/>
            <a:ext cx="186537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payment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49440" y="123444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PK  payment_id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949440" y="145389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FK  resident_id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949440" y="167335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amount, payment_date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949440" y="1892808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status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371600" y="3154680"/>
            <a:ext cx="2377440" cy="1463040"/>
          </a:xfrm>
          <a:prstGeom prst="rect">
            <a:avLst/>
          </a:prstGeom>
          <a:solidFill>
            <a:srgbClr val="EEF7FB"/>
          </a:solidFill>
          <a:ln w="25400">
            <a:solidFill>
              <a:srgbClr val="0D6B8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71600" y="3154680"/>
            <a:ext cx="2377440" cy="329184"/>
          </a:xfrm>
          <a:prstGeom prst="rect">
            <a:avLst/>
          </a:prstGeom>
          <a:solidFill>
            <a:srgbClr val="0D6B8C"/>
          </a:solidFill>
          <a:ln w="12700">
            <a:solidFill>
              <a:srgbClr val="0D6B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44752" y="3191256"/>
            <a:ext cx="223113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room_assignments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463040" y="352044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PK  assignment_id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463040" y="3739896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FK  resident_id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463040" y="3959352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FK  room_id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463040" y="4178808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date_assigned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463040" y="4398264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date_vacated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303520" y="3154680"/>
            <a:ext cx="2377440" cy="1508760"/>
          </a:xfrm>
          <a:prstGeom prst="rect">
            <a:avLst/>
          </a:prstGeom>
          <a:solidFill>
            <a:srgbClr val="EEF7FB"/>
          </a:solidFill>
          <a:ln w="25400">
            <a:solidFill>
              <a:srgbClr val="0D6B8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03520" y="3154680"/>
            <a:ext cx="2377440" cy="329184"/>
          </a:xfrm>
          <a:prstGeom prst="rect">
            <a:avLst/>
          </a:prstGeom>
          <a:solidFill>
            <a:srgbClr val="0D6B8C"/>
          </a:solidFill>
          <a:ln w="12700">
            <a:solidFill>
              <a:srgbClr val="0D6B8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76672" y="3191256"/>
            <a:ext cx="223113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dorm_pass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394960" y="352044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PK  pass_id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394960" y="3739896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FK  resident_id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394960" y="3959352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type, reason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394960" y="4178808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destination, date_applied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394960" y="4398264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status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577840" y="1600200"/>
            <a:ext cx="1280160" cy="0"/>
          </a:xfrm>
          <a:prstGeom prst="line">
            <a:avLst/>
          </a:prstGeom>
          <a:noFill/>
          <a:ln w="19050">
            <a:solidFill>
              <a:srgbClr val="0D6B8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13248" y="1481328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76288" y="1481328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0" y="2514600"/>
            <a:ext cx="1965960" cy="640080"/>
          </a:xfrm>
          <a:prstGeom prst="line">
            <a:avLst/>
          </a:prstGeom>
          <a:noFill/>
          <a:ln w="19050">
            <a:solidFill>
              <a:srgbClr val="0D6B8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07408" y="2395728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46520" y="3017520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834640" y="2514600"/>
            <a:ext cx="731520" cy="640080"/>
          </a:xfrm>
          <a:prstGeom prst="line">
            <a:avLst/>
          </a:prstGeom>
          <a:noFill/>
          <a:ln w="19050">
            <a:solidFill>
              <a:srgbClr val="0D6B8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84448" y="2395728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606040" y="3017520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188720" y="2286000"/>
            <a:ext cx="1188720" cy="868680"/>
          </a:xfrm>
          <a:prstGeom prst="line">
            <a:avLst/>
          </a:prstGeom>
          <a:noFill/>
          <a:ln w="19050">
            <a:solidFill>
              <a:srgbClr val="0D6B8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87552" y="2148840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103120" y="3017520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74320" y="4754880"/>
            <a:ext cx="85953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7A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PK = Primary Key   FK = Foreign Key   1 = one side   M = many side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Schema Migration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949440" y="0"/>
            <a:ext cx="20574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C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DBUtil.java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841375"/>
            <a:ext cx="2560320" cy="1159510"/>
          </a:xfrm>
          <a:prstGeom prst="rect">
            <a:avLst/>
          </a:prstGeom>
          <a:solidFill>
            <a:srgbClr val="0D6B8C"/>
          </a:solidFill>
          <a:ln w="12700">
            <a:solidFill>
              <a:srgbClr val="0D6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877824"/>
            <a:ext cx="34747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EE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896112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getConnection()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24688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Loads config from</a:t>
            </a:r>
            <a:endParaRPr lang="en-US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app.env via</a:t>
            </a:r>
            <a:endParaRPr lang="en-US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DatabaseConfigLoader</a:t>
            </a:r>
            <a:endParaRPr lang="en-US" sz="9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971800" y="1271016"/>
            <a:ext cx="274320" cy="0"/>
          </a:xfrm>
          <a:prstGeom prst="line">
            <a:avLst/>
          </a:prstGeom>
          <a:noFill/>
          <a:ln w="25400">
            <a:solidFill>
              <a:srgbClr val="00C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841375"/>
            <a:ext cx="2560320" cy="1160145"/>
          </a:xfrm>
          <a:prstGeom prst="rect">
            <a:avLst/>
          </a:prstGeom>
          <a:solidFill>
            <a:srgbClr val="0D6B8C"/>
          </a:solidFill>
          <a:ln w="12700">
            <a:solidFill>
              <a:srgbClr val="0D6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877824"/>
            <a:ext cx="34747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EE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03320" y="896112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hasCoreTables()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37560" y="1417320"/>
            <a:ext cx="24688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Checks DatabaseMetaData</a:t>
            </a:r>
            <a:endParaRPr lang="en-US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5 core tables</a:t>
            </a:r>
            <a:endParaRPr lang="en-US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(room, resident, ...)</a:t>
            </a:r>
            <a:endParaRPr lang="en-US" sz="9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806440" y="1271016"/>
            <a:ext cx="274320" cy="0"/>
          </a:xfrm>
          <a:prstGeom prst="line">
            <a:avLst/>
          </a:prstGeom>
          <a:noFill/>
          <a:ln w="25400">
            <a:solidFill>
              <a:srgbClr val="00C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841375"/>
            <a:ext cx="2560320" cy="1167130"/>
          </a:xfrm>
          <a:prstGeom prst="rect">
            <a:avLst/>
          </a:prstGeom>
          <a:solidFill>
            <a:srgbClr val="0D6B8C"/>
          </a:solidFill>
          <a:ln w="12700">
            <a:solidFill>
              <a:srgbClr val="0D6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72200" y="877824"/>
            <a:ext cx="34747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EE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37960" y="896112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runSchema()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72200" y="1417320"/>
            <a:ext cx="24688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Reads dormhub.sql</a:t>
            </a:r>
            <a:endParaRPr lang="en-US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resource, splits on ';'</a:t>
            </a:r>
            <a:endParaRPr lang="en-US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executes each statement</a:t>
            </a:r>
            <a:endParaRPr lang="en-US" sz="9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0040" y="2103120"/>
            <a:ext cx="8503920" cy="288036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212848"/>
            <a:ext cx="8229600" cy="2651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public static Connection getConnection() throws SQLException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DatabaseConfig config = DatabaseConfigLoader.loadDatabaseConfig();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Connection conn = DriverManager.getConnection(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config.url(), config.user(), config.password());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initializeSchema(conn);   // auto-migrate on first connection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conn;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private static void initializeSchema(Connection conn) throws SQLException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(schemaInitialized) return;        // already done (volatile flag)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synchronized (INIT_LOCK)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if (hasCoreTables(conn)) {        // check room, resident,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schemaInitialized = true;     // room_assignments, payment,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return;                       // dorm_pass via DatabaseMetaData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String sql = readResourceSchema("/com/dormhub/db/dormhub.sql");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for (String stmt : splitStatements(sql))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conn.createStatement().execute(stmt);   // run each DDL/DML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schemaInitialized = true;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Processing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949440" y="0"/>
            <a:ext cx="20574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C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DatabaseConfigLoader.java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4160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Configuration File Processing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35024"/>
            <a:ext cx="228600" cy="228600"/>
          </a:xfrm>
          <a:prstGeom prst="ellipse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298448"/>
            <a:ext cx="3749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Reads app.env using Files.newBufferedReader()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 StandardCharsets.UTF_8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993392"/>
            <a:ext cx="228600" cy="228600"/>
          </a:xfrm>
          <a:prstGeom prst="ellipse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956816"/>
            <a:ext cx="3749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Parses key=value pairs via Properties.load(reader)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651760"/>
            <a:ext cx="228600" cy="228600"/>
          </a:xfrm>
          <a:prstGeom prst="ellipse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615184"/>
            <a:ext cx="3749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Priority chain: System property → Env variable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.env file → hard-coded default URL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310128"/>
            <a:ext cx="228600" cy="228600"/>
          </a:xfrm>
          <a:prstGeom prst="ellipse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273552"/>
            <a:ext cx="3749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Saves credentials back with BufferedWriter +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StandardOpenOption flags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968496"/>
            <a:ext cx="228600" cy="228600"/>
          </a:xfrm>
          <a:prstGeom prst="ellipse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931920"/>
            <a:ext cx="3749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Validates connectivity via DriverManager.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getConnection() with a 2-second timeout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4617720"/>
            <a:ext cx="4160520" cy="411480"/>
          </a:xfrm>
          <a:prstGeom prst="rect">
            <a:avLst/>
          </a:prstGeom>
          <a:solidFill>
            <a:srgbClr val="E8F4F8"/>
          </a:solidFill>
          <a:ln w="12700">
            <a:solidFill>
              <a:srgbClr val="BCE3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61772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6B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app.env:   DB_URL=jdbc:mysql://localhost:3306/dormhub    DB_USER=root    DB_PASSWORD=•••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841248"/>
            <a:ext cx="4251960" cy="420624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960120"/>
            <a:ext cx="4041648" cy="4023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public static DatabaseConfig loadDatabaseConfig()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Properties props = loadFileProperties();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String url = firstNonBlank(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System.getProperty("db.url"),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System.getenv("DB_URL"),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props.getProperty("DB_URL"),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DEFAULT_URL);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String user = firstNonBlank(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System.getProperty("db.user"),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System.getenv("DB_USER"),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props.getProperty("DB_USER"));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// same for password...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new DatabaseConfig(url, user, password);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private static Properties loadFileProperties()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Properties props = new Properties();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(!Files.exists(ENV_FILE)) return props;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try (BufferedReader reader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Files.newBufferedReader(ENV_FILE,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StandardCharsets.UTF_8))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props.load(reader);        // parses key=value lines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 catch (IOException e) { /* skip */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props;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DAO Pattern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949440" y="0"/>
            <a:ext cx="20574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C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Data Access Object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DAO Interfaces + Implementations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43584"/>
            <a:ext cx="4023360" cy="612648"/>
          </a:xfrm>
          <a:prstGeom prst="rect">
            <a:avLst/>
          </a:prstGeom>
          <a:solidFill>
            <a:srgbClr val="EBF5FB"/>
          </a:solidFill>
          <a:ln w="19050">
            <a:solidFill>
              <a:srgbClr val="BCE3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43584"/>
            <a:ext cx="54864" cy="612648"/>
          </a:xfrm>
          <a:prstGeom prst="rect">
            <a:avLst/>
          </a:prstGeom>
          <a:solidFill>
            <a:srgbClr val="0D6B8C"/>
          </a:solidFill>
          <a:ln w="12700">
            <a:solidFill>
              <a:srgbClr val="0D6B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298448"/>
            <a:ext cx="3749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ResidentDAO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21208" y="1572768"/>
            <a:ext cx="3749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7A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 · update · delete · findById · findAll · findByLastName · findByProgram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947672"/>
            <a:ext cx="4023360" cy="612648"/>
          </a:xfrm>
          <a:prstGeom prst="rect">
            <a:avLst/>
          </a:prstGeom>
          <a:solidFill>
            <a:srgbClr val="EBF5FB"/>
          </a:solidFill>
          <a:ln w="19050">
            <a:solidFill>
              <a:srgbClr val="BCE3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947672"/>
            <a:ext cx="54864" cy="612648"/>
          </a:xfrm>
          <a:prstGeom prst="rect">
            <a:avLst/>
          </a:prstGeom>
          <a:solidFill>
            <a:srgbClr val="0D6B8C"/>
          </a:solidFill>
          <a:ln w="12700">
            <a:solidFill>
              <a:srgbClr val="0D6B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2002536"/>
            <a:ext cx="3749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RoomDAO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21208" y="2276856"/>
            <a:ext cx="3749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7A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 · update · delete · findById · findAll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651760"/>
            <a:ext cx="4023360" cy="612648"/>
          </a:xfrm>
          <a:prstGeom prst="rect">
            <a:avLst/>
          </a:prstGeom>
          <a:solidFill>
            <a:srgbClr val="EBF5FB"/>
          </a:solidFill>
          <a:ln w="19050">
            <a:solidFill>
              <a:srgbClr val="BCE3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651760"/>
            <a:ext cx="54864" cy="612648"/>
          </a:xfrm>
          <a:prstGeom prst="rect">
            <a:avLst/>
          </a:prstGeom>
          <a:solidFill>
            <a:srgbClr val="0D6B8C"/>
          </a:solidFill>
          <a:ln w="12700">
            <a:solidFill>
              <a:srgbClr val="0D6B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2706624"/>
            <a:ext cx="3749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PaymentDAO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21208" y="2980944"/>
            <a:ext cx="3749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7A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 · update · findByResident · findAll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3355848"/>
            <a:ext cx="4023360" cy="612648"/>
          </a:xfrm>
          <a:prstGeom prst="rect">
            <a:avLst/>
          </a:prstGeom>
          <a:solidFill>
            <a:srgbClr val="EBF5FB"/>
          </a:solidFill>
          <a:ln w="19050">
            <a:solidFill>
              <a:srgbClr val="BCE3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355848"/>
            <a:ext cx="54864" cy="612648"/>
          </a:xfrm>
          <a:prstGeom prst="rect">
            <a:avLst/>
          </a:prstGeom>
          <a:solidFill>
            <a:srgbClr val="0D6B8C"/>
          </a:solidFill>
          <a:ln w="12700">
            <a:solidFill>
              <a:srgbClr val="0D6B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3410712"/>
            <a:ext cx="3749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DormPassDAO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21208" y="3685032"/>
            <a:ext cx="3749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7A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 · update · findByResident · findByStatus · findAll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4059936"/>
            <a:ext cx="4023360" cy="612648"/>
          </a:xfrm>
          <a:prstGeom prst="rect">
            <a:avLst/>
          </a:prstGeom>
          <a:solidFill>
            <a:srgbClr val="EBF5FB"/>
          </a:solidFill>
          <a:ln w="19050">
            <a:solidFill>
              <a:srgbClr val="BCE3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4059936"/>
            <a:ext cx="54864" cy="612648"/>
          </a:xfrm>
          <a:prstGeom prst="rect">
            <a:avLst/>
          </a:prstGeom>
          <a:solidFill>
            <a:srgbClr val="0D6B8C"/>
          </a:solidFill>
          <a:ln w="12700">
            <a:solidFill>
              <a:srgbClr val="0D6B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" y="4114800"/>
            <a:ext cx="3749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RoomAssignmentDAO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21208" y="4389120"/>
            <a:ext cx="3749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7A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 · findByResident · findByRoom · findActive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663440" y="841248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ResidentDAO — Interface &amp; Implementation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1234440"/>
            <a:ext cx="4297680" cy="374904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1353312"/>
            <a:ext cx="4069080" cy="3566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ResidentDAO.java  (Interface)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public interface ResidentDAO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void insert(Resident resident);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void update(Resident resident);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void delete(int residentId);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Resident findById(int residentId);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List&lt;Resident&gt; findByLastName(String name);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List&lt;Resident&gt; findAllResidents();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ResidentDAOImpl.java  (Implementation)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public class ResidentDAOImpl implements ResidentDAO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@Override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public void insert(Resident r)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String sql = "INSERT INTO resident 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+ "(resident_id, last_name, first_name, 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+ " contact_no, year_level, program, 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+ " move_in_date) VALUES (?,?,?,?,?,?,?)";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try (Connection conn = DBUtil.getConnection();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PreparedStatement ps 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 conn.prepareStatement(sql))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ps.setInt(1, r.getResidentId());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ps.setString(2, r.getLastName());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// ... set remaining params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ps.executeUpdate();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} catch (SQLException e) { /* handle */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926080"/>
            <a:ext cx="4572000" cy="4572000"/>
          </a:xfrm>
          <a:prstGeom prst="ellipse">
            <a:avLst/>
          </a:prstGeom>
          <a:solidFill>
            <a:srgbClr val="0D6B8C">
              <a:alpha val="22000"/>
            </a:srgbClr>
          </a:solidFill>
          <a:ln w="12700">
            <a:solidFill>
              <a:srgbClr val="0D6B8C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828800"/>
            <a:ext cx="4572000" cy="4572000"/>
          </a:xfrm>
          <a:prstGeom prst="ellipse">
            <a:avLst/>
          </a:prstGeom>
          <a:solidFill>
            <a:srgbClr val="00C4D4">
              <a:alpha val="18000"/>
            </a:srgbClr>
          </a:solidFill>
          <a:ln w="12700">
            <a:solidFill>
              <a:srgbClr val="00C4D4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4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DormHub — Dormitory Management System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AF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Problem  •  Java Swing  •  MySQL  •  DAO Pattern  •  AY 2025–2026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17520" y="3383280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0D6B8C"/>
          </a:solidFill>
          <a:ln w="12700">
            <a:solidFill>
              <a:srgbClr val="0D6B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3383280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Answers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416052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4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97280" y="466344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F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DB Tables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26080" y="416052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4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926080" y="466344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F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DAO Classes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416052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4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54880" y="466344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F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416052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4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583680" y="466344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F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Swing + SQL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7299</Words>
  <Application>WPS Presentation</Application>
  <PresentationFormat>On-screen Show (16:9)</PresentationFormat>
  <Paragraphs>424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DormHub - Dormitory Management System</dc:title>
  <dc:creator>PptxGenJS</dc:creator>
  <dc:subject>PptxGenJS Presentation</dc:subject>
  <cp:lastModifiedBy>Geoff Tomagan</cp:lastModifiedBy>
  <cp:revision>2</cp:revision>
  <dcterms:created xsi:type="dcterms:W3CDTF">2026-05-13T16:17:00Z</dcterms:created>
  <dcterms:modified xsi:type="dcterms:W3CDTF">2026-05-13T16:22:18Z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A8991868D8DB46C38F082EA41B256A4A_12</vt:lpwstr>
  </property>
</Properties>
</file>